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8000" y="1080000"/>
            <a:ext cx="125999" cy="2880000"/>
          </a:xfrm>
          <a:prstGeom prst="rect">
            <a:avLst/>
          </a:prstGeom>
          <a:solidFill>
            <a:srgbClr val="6F37B4"/>
          </a:solidFill>
          <a:ln w="12700">
            <a:solidFill>
              <a:srgbClr val="6F3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0000" y="1080000"/>
            <a:ext cx="9720000" cy="10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Aptos"/>
              </a:rPr>
              <a:t>CZECHOSLOVAKIA BANKING
FINANCIAL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8000" y="2340000"/>
            <a:ext cx="9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6F37B4"/>
                </a:solidFill>
                <a:latin typeface="Aptos"/>
              </a:rPr>
              <a:t>SQL  |  EXCEL  |  POWER BI  |  BUSINESS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8000" y="3240000"/>
            <a:ext cx="7200000" cy="57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Aptos"/>
              </a:rPr>
              <a:t>Data Analytics Project
Kiran Dhotre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04000" y="6443999"/>
            <a:ext cx="360000" cy="1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B9B9C3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10728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Aptos"/>
              </a:rP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800000"/>
            <a:ext cx="4752000" cy="1728000"/>
          </a:xfrm>
          <a:prstGeom prst="rect">
            <a:avLst/>
          </a:prstGeom>
          <a:solidFill>
            <a:srgbClr val="120A1C"/>
          </a:solidFill>
          <a:ln w="12700">
            <a:solidFill>
              <a:srgbClr val="6F3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1944000"/>
            <a:ext cx="4248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6F37B4"/>
                </a:solidFill>
                <a:latin typeface="Aptos"/>
              </a:rPr>
              <a:t>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2268000"/>
            <a:ext cx="4212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Aptos"/>
              </a:rPr>
              <a:t>Analyze banking data to understand customers, transactions, loans, cards and business performance, and convert the findings into actionable insights.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0" y="1800000"/>
            <a:ext cx="1835999" cy="1007999"/>
          </a:xfrm>
          <a:prstGeom prst="rect">
            <a:avLst/>
          </a:prstGeom>
          <a:solidFill>
            <a:srgbClr val="120A1C"/>
          </a:solidFill>
          <a:ln w="12700">
            <a:solidFill>
              <a:srgbClr val="6F3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03999" y="1980000"/>
            <a:ext cx="1548000" cy="61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5F5F5"/>
                </a:solidFill>
                <a:latin typeface="Aptos"/>
              </a:rPr>
              <a:t>CUSTOMER
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7740000" y="1800000"/>
            <a:ext cx="1835999" cy="1007999"/>
          </a:xfrm>
          <a:prstGeom prst="rect">
            <a:avLst/>
          </a:prstGeom>
          <a:solidFill>
            <a:srgbClr val="120A1C"/>
          </a:solidFill>
          <a:ln w="12700">
            <a:solidFill>
              <a:srgbClr val="6F3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83999" y="1980000"/>
            <a:ext cx="1548000" cy="61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5F5F5"/>
                </a:solidFill>
                <a:latin typeface="Aptos"/>
              </a:rPr>
              <a:t>TRANSACTIONS
ANALYSIS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000" y="2988000"/>
            <a:ext cx="1835999" cy="1007999"/>
          </a:xfrm>
          <a:prstGeom prst="rect">
            <a:avLst/>
          </a:prstGeom>
          <a:solidFill>
            <a:srgbClr val="120A1C"/>
          </a:solidFill>
          <a:ln w="12700">
            <a:solidFill>
              <a:srgbClr val="6F3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03999" y="3168000"/>
            <a:ext cx="1548000" cy="61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5F5F5"/>
                </a:solidFill>
                <a:latin typeface="Aptos"/>
              </a:rPr>
              <a:t>LOANS &amp; CARDS
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40000" y="2988000"/>
            <a:ext cx="1835999" cy="1007999"/>
          </a:xfrm>
          <a:prstGeom prst="rect">
            <a:avLst/>
          </a:prstGeom>
          <a:solidFill>
            <a:srgbClr val="120A1C"/>
          </a:solidFill>
          <a:ln w="12700">
            <a:solidFill>
              <a:srgbClr val="6F3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3999" y="3168000"/>
            <a:ext cx="1548000" cy="61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5F5F5"/>
                </a:solidFill>
                <a:latin typeface="Aptos"/>
              </a:rPr>
              <a:t>BUSINESS
INSIGHTS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0000" y="4356000"/>
            <a:ext cx="1835999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6F37B4"/>
                </a:solidFill>
                <a:latin typeface="Aptos"/>
              </a:rPr>
              <a:t>SQL  |  EXCEL  |  POWER BI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04000" y="6443999"/>
            <a:ext cx="360000" cy="1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B9B9C3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10728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Aptos"/>
              </a:rPr>
              <a:t>DATA &amp; 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800000"/>
            <a:ext cx="4140000" cy="2700000"/>
          </a:xfrm>
          <a:prstGeom prst="rect">
            <a:avLst/>
          </a:prstGeom>
          <a:solidFill>
            <a:srgbClr val="120A1C"/>
          </a:solidFill>
          <a:ln w="12700">
            <a:solidFill>
              <a:srgbClr val="6F3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1944000"/>
            <a:ext cx="3780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5F5F5"/>
                </a:solidFill>
                <a:latin typeface="Aptos"/>
              </a:rPr>
              <a:t>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2268000"/>
            <a:ext cx="3600000" cy="1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Aptos"/>
              </a:rPr>
              <a:t>8 TABLES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2592000"/>
            <a:ext cx="3600000" cy="151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F5F5"/>
                </a:solidFill>
                <a:latin typeface="Aptos"/>
              </a:rPr>
              <a:t>4,500 ACCOUNTS
5,369 CUSTOMERS
682 LOANS
892 CARDS
2.09M TRANSACTIONS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0" y="1800000"/>
            <a:ext cx="4140000" cy="2700000"/>
          </a:xfrm>
          <a:prstGeom prst="rect">
            <a:avLst/>
          </a:prstGeom>
          <a:solidFill>
            <a:srgbClr val="120A1C"/>
          </a:solidFill>
          <a:ln w="12700">
            <a:solidFill>
              <a:srgbClr val="6F3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80000" y="1944000"/>
            <a:ext cx="3780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5F5F5"/>
                </a:solidFill>
                <a:latin typeface="Aptos"/>
              </a:rPr>
              <a:t>TECHNOLOGY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0000" y="2340000"/>
            <a:ext cx="3671999" cy="187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Aptos"/>
              </a:rPr>
              <a:t>EXCEL
Data review and preparation
MYSQL
Data cleaning and business analysis
POWER BI
Interactive dashboard and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80000" y="5112000"/>
            <a:ext cx="8208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6F37B4"/>
                </a:solidFill>
                <a:latin typeface="Aptos"/>
              </a:rPr>
              <a:t>RAW DATA  →  SQL  →  POWER BI  →  BUSINESS INSIGHTS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04000" y="6443999"/>
            <a:ext cx="360000" cy="1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B9B9C3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10728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Aptos"/>
              </a:rPr>
              <a:t>DATA PREPARATION &amp; CLEANING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1440000"/>
            <a:ext cx="2880000" cy="3420000"/>
          </a:xfrm>
          <a:prstGeom prst="rect">
            <a:avLst/>
          </a:prstGeom>
          <a:solidFill>
            <a:srgbClr val="120A1C"/>
          </a:solidFill>
          <a:ln w="12700">
            <a:solidFill>
              <a:srgbClr val="6F3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000" y="1620000"/>
            <a:ext cx="259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F5F5"/>
                </a:solidFill>
                <a:latin typeface="Aptos"/>
              </a:rPr>
              <a:t>DATA QUALITY ISSUES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" y="2015999"/>
            <a:ext cx="2556000" cy="25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F5F5F5"/>
                </a:solidFill>
                <a:latin typeface="Aptos"/>
              </a:defRPr>
            </a:pPr>
            <a:r>
              <a:t>• Mixed transaction date formats</a:t>
            </a:r>
          </a:p>
          <a:p>
            <a:pPr>
              <a:spcAft>
                <a:spcPts val="800"/>
              </a:spcAft>
              <a:defRPr sz="1250">
                <a:solidFill>
                  <a:srgbClr val="F5F5F5"/>
                </a:solidFill>
                <a:latin typeface="Aptos"/>
              </a:defRPr>
            </a:pPr>
            <a:r>
              <a:t>• Missing bank values</a:t>
            </a:r>
          </a:p>
          <a:p>
            <a:pPr>
              <a:spcAft>
                <a:spcPts val="800"/>
              </a:spcAft>
              <a:defRPr sz="1250">
                <a:solidFill>
                  <a:srgbClr val="F5F5F5"/>
                </a:solidFill>
                <a:latin typeface="Aptos"/>
              </a:defRPr>
            </a:pPr>
            <a:r>
              <a:t>• Duplicate transaction IDs</a:t>
            </a:r>
          </a:p>
          <a:p>
            <a:pPr>
              <a:spcAft>
                <a:spcPts val="800"/>
              </a:spcAft>
              <a:defRPr sz="1250">
                <a:solidFill>
                  <a:srgbClr val="F5F5F5"/>
                </a:solidFill>
                <a:latin typeface="Aptos"/>
              </a:defRPr>
            </a:pPr>
            <a:r>
              <a:t>• Missing purpose values</a:t>
            </a:r>
          </a:p>
          <a:p>
            <a:pPr>
              <a:spcAft>
                <a:spcPts val="800"/>
              </a:spcAft>
              <a:defRPr sz="1250">
                <a:solidFill>
                  <a:srgbClr val="F5F5F5"/>
                </a:solidFill>
                <a:latin typeface="Aptos"/>
              </a:defRPr>
            </a:pPr>
            <a:r>
              <a:t>• Inconsistent frequency values</a:t>
            </a:r>
          </a:p>
          <a:p>
            <a:pPr>
              <a:spcAft>
                <a:spcPts val="800"/>
              </a:spcAft>
              <a:defRPr sz="1250">
                <a:solidFill>
                  <a:srgbClr val="F5F5F5"/>
                </a:solidFill>
                <a:latin typeface="Aptos"/>
              </a:defRPr>
            </a:pPr>
            <a:r>
              <a:t>• Account date alignment issue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0" y="1440000"/>
            <a:ext cx="2880000" cy="3420000"/>
          </a:xfrm>
          <a:prstGeom prst="rect">
            <a:avLst/>
          </a:prstGeom>
          <a:solidFill>
            <a:srgbClr val="120A1C"/>
          </a:solidFill>
          <a:ln w="12700">
            <a:solidFill>
              <a:srgbClr val="6F3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4000" y="1620000"/>
            <a:ext cx="259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F5F5"/>
                </a:solidFill>
                <a:latin typeface="Aptos"/>
              </a:rPr>
              <a:t>CLEANING 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61999" y="2015999"/>
            <a:ext cx="2556000" cy="25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F5F5F5"/>
                </a:solidFill>
                <a:latin typeface="Aptos"/>
              </a:defRPr>
            </a:pPr>
            <a:r>
              <a:t>• Converted dates using STR_TO_DATE</a:t>
            </a:r>
          </a:p>
          <a:p>
            <a:pPr>
              <a:spcAft>
                <a:spcPts val="800"/>
              </a:spcAft>
              <a:defRPr sz="1250">
                <a:solidFill>
                  <a:srgbClr val="F5F5F5"/>
                </a:solidFill>
                <a:latin typeface="Aptos"/>
              </a:defRPr>
            </a:pPr>
            <a:r>
              <a:t>• Created transactions_backup</a:t>
            </a:r>
          </a:p>
          <a:p>
            <a:pPr>
              <a:spcAft>
                <a:spcPts val="800"/>
              </a:spcAft>
              <a:defRPr sz="1250">
                <a:solidFill>
                  <a:srgbClr val="F5F5F5"/>
                </a:solidFill>
                <a:latin typeface="Aptos"/>
              </a:defRPr>
            </a:pPr>
            <a:r>
              <a:t>• Removed exact duplicate rows</a:t>
            </a:r>
          </a:p>
          <a:p>
            <a:pPr>
              <a:spcAft>
                <a:spcPts val="800"/>
              </a:spcAft>
              <a:defRPr sz="1250">
                <a:solidFill>
                  <a:srgbClr val="F5F5F5"/>
                </a:solidFill>
                <a:latin typeface="Aptos"/>
              </a:defRPr>
            </a:pPr>
            <a:r>
              <a:t>• Filled missing purpose as unknown purpose</a:t>
            </a:r>
          </a:p>
          <a:p>
            <a:pPr>
              <a:spcAft>
                <a:spcPts val="800"/>
              </a:spcAft>
              <a:defRPr sz="1250">
                <a:solidFill>
                  <a:srgbClr val="F5F5F5"/>
                </a:solidFill>
                <a:latin typeface="Aptos"/>
              </a:defRPr>
            </a:pPr>
            <a:r>
              <a:t>• Standardized frequency values</a:t>
            </a:r>
          </a:p>
          <a:p>
            <a:pPr>
              <a:spcAft>
                <a:spcPts val="800"/>
              </a:spcAft>
              <a:defRPr sz="1250">
                <a:solidFill>
                  <a:srgbClr val="F5F5F5"/>
                </a:solidFill>
                <a:latin typeface="Aptos"/>
              </a:defRPr>
            </a:pPr>
            <a:r>
              <a:t>• Adjusted account dates by +1 year</a:t>
            </a:r>
          </a:p>
        </p:txBody>
      </p:sp>
      <p:sp>
        <p:nvSpPr>
          <p:cNvPr id="9" name="Rectangle 8"/>
          <p:cNvSpPr/>
          <p:nvPr/>
        </p:nvSpPr>
        <p:spPr>
          <a:xfrm>
            <a:off x="6732000" y="1440000"/>
            <a:ext cx="2880000" cy="3420000"/>
          </a:xfrm>
          <a:prstGeom prst="rect">
            <a:avLst/>
          </a:prstGeom>
          <a:solidFill>
            <a:srgbClr val="120A1C"/>
          </a:solidFill>
          <a:ln w="12700">
            <a:solidFill>
              <a:srgbClr val="6F3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75999" y="1620000"/>
            <a:ext cx="259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F5F5"/>
                </a:solidFill>
                <a:latin typeface="Aptos"/>
              </a:rPr>
              <a:t>FINAL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93999" y="2015999"/>
            <a:ext cx="2556000" cy="25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F5F5F5"/>
                </a:solidFill>
                <a:latin typeface="Aptos"/>
              </a:defRPr>
            </a:pPr>
            <a:r>
              <a:t>• Transaction Period: 2017 – 2022</a:t>
            </a:r>
          </a:p>
          <a:p>
            <a:pPr>
              <a:spcAft>
                <a:spcPts val="800"/>
              </a:spcAft>
              <a:defRPr sz="1250">
                <a:solidFill>
                  <a:srgbClr val="F5F5F5"/>
                </a:solidFill>
                <a:latin typeface="Aptos"/>
              </a:defRPr>
            </a:pPr>
            <a:r>
              <a:t>• 1,048,575 duplicate trans_id records identified</a:t>
            </a:r>
          </a:p>
          <a:p>
            <a:pPr>
              <a:spcAft>
                <a:spcPts val="800"/>
              </a:spcAft>
              <a:defRPr sz="1250">
                <a:solidFill>
                  <a:srgbClr val="F5F5F5"/>
                </a:solidFill>
                <a:latin typeface="Aptos"/>
              </a:defRPr>
            </a:pPr>
            <a:r>
              <a:t>• Clean transaction table used for analysis</a:t>
            </a:r>
          </a:p>
          <a:p>
            <a:pPr>
              <a:spcAft>
                <a:spcPts val="800"/>
              </a:spcAft>
              <a:defRPr sz="1250">
                <a:solidFill>
                  <a:srgbClr val="F5F5F5"/>
                </a:solidFill>
                <a:latin typeface="Aptos"/>
              </a:defRPr>
            </a:pPr>
            <a:r>
              <a:t>• Original source periods preserved where applicable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04000" y="6443999"/>
            <a:ext cx="360000" cy="1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B9B9C3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10728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Aptos"/>
              </a:rPr>
              <a:t>SQL BUSINESS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1620000"/>
            <a:ext cx="3240000" cy="3311999"/>
          </a:xfrm>
          <a:prstGeom prst="rect">
            <a:avLst/>
          </a:prstGeom>
          <a:solidFill>
            <a:srgbClr val="120A1C"/>
          </a:solidFill>
          <a:ln w="12700">
            <a:solidFill>
              <a:srgbClr val="6F3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800000"/>
            <a:ext cx="2880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6F37B4"/>
                </a:solidFill>
                <a:latin typeface="Aptos"/>
              </a:rPr>
              <a:t>CUSTOMERS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7999" y="2160000"/>
            <a:ext cx="2808000" cy="24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5F5F5"/>
                </a:solidFill>
                <a:latin typeface="Aptos"/>
              </a:defRPr>
            </a:pPr>
            <a:r>
              <a:t>• Demographics</a:t>
            </a:r>
          </a:p>
          <a:p>
            <a:pPr>
              <a:spcAft>
                <a:spcPts val="800"/>
              </a:spcAft>
              <a:defRPr sz="1300">
                <a:solidFill>
                  <a:srgbClr val="F5F5F5"/>
                </a:solidFill>
                <a:latin typeface="Aptos"/>
              </a:defRPr>
            </a:pPr>
            <a:r>
              <a:t>• Age groups</a:t>
            </a:r>
          </a:p>
          <a:p>
            <a:pPr>
              <a:spcAft>
                <a:spcPts val="800"/>
              </a:spcAft>
              <a:defRPr sz="1300">
                <a:solidFill>
                  <a:srgbClr val="F5F5F5"/>
                </a:solidFill>
                <a:latin typeface="Aptos"/>
              </a:defRPr>
            </a:pPr>
            <a:r>
              <a:t>• Gender analysis</a:t>
            </a:r>
          </a:p>
          <a:p>
            <a:pPr>
              <a:spcAft>
                <a:spcPts val="800"/>
              </a:spcAft>
              <a:defRPr sz="1300">
                <a:solidFill>
                  <a:srgbClr val="F5F5F5"/>
                </a:solidFill>
                <a:latin typeface="Aptos"/>
              </a:defRPr>
            </a:pPr>
            <a:r>
              <a:t>• Customer activity</a:t>
            </a:r>
          </a:p>
          <a:p>
            <a:pPr>
              <a:spcAft>
                <a:spcPts val="800"/>
              </a:spcAft>
              <a:defRPr sz="1300">
                <a:solidFill>
                  <a:srgbClr val="F5F5F5"/>
                </a:solidFill>
                <a:latin typeface="Aptos"/>
              </a:defRPr>
            </a:pPr>
            <a:r>
              <a:t>• District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212000" y="1620000"/>
            <a:ext cx="3240000" cy="3311999"/>
          </a:xfrm>
          <a:prstGeom prst="rect">
            <a:avLst/>
          </a:prstGeom>
          <a:solidFill>
            <a:srgbClr val="120A1C"/>
          </a:solidFill>
          <a:ln w="12700">
            <a:solidFill>
              <a:srgbClr val="6F3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92000" y="1800000"/>
            <a:ext cx="2880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6F37B4"/>
                </a:solidFill>
                <a:latin typeface="Aptos"/>
              </a:rPr>
              <a:t>TRANSACTIONS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10000" y="2160000"/>
            <a:ext cx="2808000" cy="24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5F5F5"/>
                </a:solidFill>
                <a:latin typeface="Aptos"/>
              </a:defRPr>
            </a:pPr>
            <a:r>
              <a:t>• Year-wise amount</a:t>
            </a:r>
          </a:p>
          <a:p>
            <a:pPr>
              <a:spcAft>
                <a:spcPts val="800"/>
              </a:spcAft>
              <a:defRPr sz="1300">
                <a:solidFill>
                  <a:srgbClr val="F5F5F5"/>
                </a:solidFill>
                <a:latin typeface="Aptos"/>
              </a:defRPr>
            </a:pPr>
            <a:r>
              <a:t>• Transaction count</a:t>
            </a:r>
          </a:p>
          <a:p>
            <a:pPr>
              <a:spcAft>
                <a:spcPts val="800"/>
              </a:spcAft>
              <a:defRPr sz="1300">
                <a:solidFill>
                  <a:srgbClr val="F5F5F5"/>
                </a:solidFill>
                <a:latin typeface="Aptos"/>
              </a:defRPr>
            </a:pPr>
            <a:r>
              <a:t>• Average amount</a:t>
            </a:r>
          </a:p>
          <a:p>
            <a:pPr>
              <a:spcAft>
                <a:spcPts val="800"/>
              </a:spcAft>
              <a:defRPr sz="1300">
                <a:solidFill>
                  <a:srgbClr val="F5F5F5"/>
                </a:solidFill>
                <a:latin typeface="Aptos"/>
              </a:defRPr>
            </a:pPr>
            <a:r>
              <a:t>• Operation analysis</a:t>
            </a:r>
          </a:p>
          <a:p>
            <a:pPr>
              <a:spcAft>
                <a:spcPts val="800"/>
              </a:spcAft>
              <a:defRPr sz="1300">
                <a:solidFill>
                  <a:srgbClr val="F5F5F5"/>
                </a:solidFill>
                <a:latin typeface="Aptos"/>
              </a:defRPr>
            </a:pPr>
            <a:r>
              <a:t>• Credit vs withdrawal</a:t>
            </a:r>
          </a:p>
        </p:txBody>
      </p:sp>
      <p:sp>
        <p:nvSpPr>
          <p:cNvPr id="9" name="Rectangle 8"/>
          <p:cNvSpPr/>
          <p:nvPr/>
        </p:nvSpPr>
        <p:spPr>
          <a:xfrm>
            <a:off x="7883999" y="1620000"/>
            <a:ext cx="3240000" cy="3311999"/>
          </a:xfrm>
          <a:prstGeom prst="rect">
            <a:avLst/>
          </a:prstGeom>
          <a:solidFill>
            <a:srgbClr val="120A1C"/>
          </a:solidFill>
          <a:ln w="12700">
            <a:solidFill>
              <a:srgbClr val="6F3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63999" y="1800000"/>
            <a:ext cx="2880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6F37B4"/>
                </a:solidFill>
                <a:latin typeface="Aptos"/>
              </a:rPr>
              <a:t>PRODUCTS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2000" y="2160000"/>
            <a:ext cx="2808000" cy="24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5F5F5"/>
                </a:solidFill>
                <a:latin typeface="Aptos"/>
              </a:defRPr>
            </a:pPr>
            <a:r>
              <a:t>• Account types</a:t>
            </a:r>
          </a:p>
          <a:p>
            <a:pPr>
              <a:spcAft>
                <a:spcPts val="800"/>
              </a:spcAft>
              <a:defRPr sz="1300">
                <a:solidFill>
                  <a:srgbClr val="F5F5F5"/>
                </a:solidFill>
                <a:latin typeface="Aptos"/>
              </a:defRPr>
            </a:pPr>
            <a:r>
              <a:t>• Card distribution</a:t>
            </a:r>
          </a:p>
          <a:p>
            <a:pPr>
              <a:spcAft>
                <a:spcPts val="800"/>
              </a:spcAft>
              <a:defRPr sz="1300">
                <a:solidFill>
                  <a:srgbClr val="F5F5F5"/>
                </a:solidFill>
                <a:latin typeface="Aptos"/>
              </a:defRPr>
            </a:pPr>
            <a:r>
              <a:t>• Loan status</a:t>
            </a:r>
          </a:p>
          <a:p>
            <a:pPr>
              <a:spcAft>
                <a:spcPts val="800"/>
              </a:spcAft>
              <a:defRPr sz="1300">
                <a:solidFill>
                  <a:srgbClr val="F5F5F5"/>
                </a:solidFill>
                <a:latin typeface="Aptos"/>
              </a:defRPr>
            </a:pPr>
            <a:r>
              <a:t>• Product adoption</a:t>
            </a:r>
          </a:p>
          <a:p>
            <a:pPr>
              <a:spcAft>
                <a:spcPts val="800"/>
              </a:spcAft>
              <a:defRPr sz="1300">
                <a:solidFill>
                  <a:srgbClr val="F5F5F5"/>
                </a:solidFill>
                <a:latin typeface="Aptos"/>
              </a:defRPr>
            </a:pPr>
            <a:r>
              <a:t>• Customer segments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0000" y="5400000"/>
            <a:ext cx="9288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5F5"/>
                </a:solidFill>
                <a:latin typeface="Aptos"/>
              </a:rPr>
              <a:t>SQL was used to answer business questions before building Power BI visuals.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04000" y="6443999"/>
            <a:ext cx="360000" cy="1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B9B9C3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10728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Aptos"/>
              </a:rPr>
              <a:t>POWER BI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1800000"/>
            <a:ext cx="1872000" cy="2520000"/>
          </a:xfrm>
          <a:prstGeom prst="rect">
            <a:avLst/>
          </a:prstGeom>
          <a:solidFill>
            <a:srgbClr val="120A1C"/>
          </a:solidFill>
          <a:ln w="12700">
            <a:solidFill>
              <a:srgbClr val="6F3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000" y="1944000"/>
            <a:ext cx="1728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F5F5F5"/>
                </a:solidFill>
                <a:latin typeface="Aptos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2880000"/>
            <a:ext cx="1512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B9B9C3"/>
                </a:solidFill>
                <a:latin typeface="Aptos"/>
              </a:rPr>
              <a:t>Dashboard
Screenshot</a:t>
            </a:r>
          </a:p>
        </p:txBody>
      </p:sp>
      <p:sp>
        <p:nvSpPr>
          <p:cNvPr id="6" name="Rectangle 5"/>
          <p:cNvSpPr/>
          <p:nvPr/>
        </p:nvSpPr>
        <p:spPr>
          <a:xfrm>
            <a:off x="2808000" y="1800000"/>
            <a:ext cx="1872000" cy="2520000"/>
          </a:xfrm>
          <a:prstGeom prst="rect">
            <a:avLst/>
          </a:prstGeom>
          <a:solidFill>
            <a:srgbClr val="120A1C"/>
          </a:solidFill>
          <a:ln w="12700">
            <a:solidFill>
              <a:srgbClr val="6F3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000" y="1944000"/>
            <a:ext cx="1728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F5F5F5"/>
                </a:solidFill>
                <a:latin typeface="Aptos"/>
              </a:rPr>
              <a:t>TRANSACTIONS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88000" y="2880000"/>
            <a:ext cx="1512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B9B9C3"/>
                </a:solidFill>
                <a:latin typeface="Aptos"/>
              </a:rPr>
              <a:t>Dashboard
Screenshot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6000" y="1800000"/>
            <a:ext cx="1872000" cy="2520000"/>
          </a:xfrm>
          <a:prstGeom prst="rect">
            <a:avLst/>
          </a:prstGeom>
          <a:solidFill>
            <a:srgbClr val="120A1C"/>
          </a:solidFill>
          <a:ln w="12700">
            <a:solidFill>
              <a:srgbClr val="6F3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48000" y="1944000"/>
            <a:ext cx="1728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F5F5F5"/>
                </a:solidFill>
                <a:latin typeface="Aptos"/>
              </a:rPr>
              <a:t>CUSTOMER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6000" y="2880000"/>
            <a:ext cx="1512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B9B9C3"/>
                </a:solidFill>
                <a:latin typeface="Aptos"/>
              </a:rPr>
              <a:t>Dashboard
Screenshot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43999" y="1800000"/>
            <a:ext cx="1872000" cy="2520000"/>
          </a:xfrm>
          <a:prstGeom prst="rect">
            <a:avLst/>
          </a:prstGeom>
          <a:solidFill>
            <a:srgbClr val="120A1C"/>
          </a:solidFill>
          <a:ln w="12700">
            <a:solidFill>
              <a:srgbClr val="6F3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15999" y="1944000"/>
            <a:ext cx="1728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F5F5F5"/>
                </a:solidFill>
                <a:latin typeface="Aptos"/>
              </a:rPr>
              <a:t>LOANS &amp; CARDS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23999" y="2880000"/>
            <a:ext cx="1512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B9B9C3"/>
                </a:solidFill>
                <a:latin typeface="Aptos"/>
              </a:rPr>
              <a:t>Dashboard
Screenshot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12000" y="1800000"/>
            <a:ext cx="1872000" cy="2520000"/>
          </a:xfrm>
          <a:prstGeom prst="rect">
            <a:avLst/>
          </a:prstGeom>
          <a:solidFill>
            <a:srgbClr val="120A1C"/>
          </a:solidFill>
          <a:ln w="12700">
            <a:solidFill>
              <a:srgbClr val="6F3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84000" y="1944000"/>
            <a:ext cx="1728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F5F5F5"/>
                </a:solidFill>
                <a:latin typeface="Aptos"/>
              </a:rPr>
              <a:t>BUSINESS INSIGHTS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92000" y="2880000"/>
            <a:ext cx="1512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B9B9C3"/>
                </a:solidFill>
                <a:latin typeface="Aptos"/>
              </a:rPr>
              <a:t>Dashboard
Screenshot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00000" y="5040000"/>
            <a:ext cx="864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6F37B4"/>
                </a:solidFill>
                <a:latin typeface="Aptos"/>
              </a:rPr>
              <a:t>Premium dark banking theme | 1920 × 1080 | Interactive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04000" y="6443999"/>
            <a:ext cx="360000" cy="1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B9B9C3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10728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Aptos"/>
              </a:rPr>
              <a:t>CUSTOMER &amp; DEMOGRAPHIC INSIGHTS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548000"/>
            <a:ext cx="5040000" cy="3348000"/>
          </a:xfrm>
          <a:prstGeom prst="rect">
            <a:avLst/>
          </a:prstGeom>
          <a:solidFill>
            <a:srgbClr val="120A1C"/>
          </a:solidFill>
          <a:ln w="12700">
            <a:solidFill>
              <a:srgbClr val="6F3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1728000"/>
            <a:ext cx="4320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6F37B4"/>
                </a:solidFill>
                <a:latin typeface="Aptos"/>
              </a:rPr>
              <a:t>CUSTOMER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2160000"/>
            <a:ext cx="4320000" cy="20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F5F5"/>
                </a:solidFill>
                <a:latin typeface="Aptos"/>
              </a:rPr>
              <a:t>5,369 CUSTOMERS
Savings Accounts   1,533
NRI Accounts          1,522
Salary Accounts      1,445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0000" y="1548000"/>
            <a:ext cx="5040000" cy="3348000"/>
          </a:xfrm>
          <a:prstGeom prst="rect">
            <a:avLst/>
          </a:prstGeom>
          <a:solidFill>
            <a:srgbClr val="120A1C"/>
          </a:solidFill>
          <a:ln w="12700">
            <a:solidFill>
              <a:srgbClr val="6F3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0000" y="1728000"/>
            <a:ext cx="4320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6F37B4"/>
                </a:solidFill>
                <a:latin typeface="Aptos"/>
              </a:rPr>
              <a:t>AGE SEGMENTS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0000" y="2160000"/>
            <a:ext cx="4320000" cy="23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F5F5F5"/>
                </a:solidFill>
                <a:latin typeface="Aptos"/>
              </a:rPr>
              <a:t>Young Adults       1,077
Adults                  1,441
Middle-Aged        1,471
Senior Citizens     1,326
Key insight: the customer base is concentrated in adult and middle-aged groups.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04000" y="6443999"/>
            <a:ext cx="360000" cy="1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B9B9C3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10728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Aptos"/>
              </a:rPr>
              <a:t>TRANSACTION &amp; EXPENSE INSIGHTS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1512000"/>
            <a:ext cx="2268000" cy="1512000"/>
          </a:xfrm>
          <a:prstGeom prst="rect">
            <a:avLst/>
          </a:prstGeom>
          <a:solidFill>
            <a:srgbClr val="120A1C"/>
          </a:solidFill>
          <a:ln w="12700">
            <a:solidFill>
              <a:srgbClr val="6F3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1655999"/>
            <a:ext cx="2052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6F37B4"/>
                </a:solidFill>
                <a:latin typeface="Aptos"/>
              </a:rPr>
              <a:t>2017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980000"/>
            <a:ext cx="2052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5F5F5"/>
                </a:solidFill>
                <a:latin typeface="Aptos"/>
              </a:rPr>
              <a:t>₹1.868B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2412000"/>
            <a:ext cx="2052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F5F5F5"/>
                </a:solidFill>
                <a:latin typeface="Aptos"/>
              </a:rPr>
              <a:t>314,532 transactions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8000" y="1512000"/>
            <a:ext cx="2268000" cy="1512000"/>
          </a:xfrm>
          <a:prstGeom prst="rect">
            <a:avLst/>
          </a:prstGeom>
          <a:solidFill>
            <a:srgbClr val="120A1C"/>
          </a:solidFill>
          <a:ln w="12700">
            <a:solidFill>
              <a:srgbClr val="6F3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6000" y="1655999"/>
            <a:ext cx="2052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6F37B4"/>
                </a:solidFill>
                <a:latin typeface="Aptos"/>
              </a:rPr>
              <a:t>2022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6000" y="1980000"/>
            <a:ext cx="2052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5F5F5"/>
                </a:solidFill>
                <a:latin typeface="Aptos"/>
              </a:rPr>
              <a:t>₹204.3M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6000" y="2412000"/>
            <a:ext cx="2052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F5F5F5"/>
                </a:solidFill>
                <a:latin typeface="Aptos"/>
              </a:rPr>
              <a:t>28,205 transactions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16000" y="1512000"/>
            <a:ext cx="2268000" cy="1512000"/>
          </a:xfrm>
          <a:prstGeom prst="rect">
            <a:avLst/>
          </a:prstGeom>
          <a:solidFill>
            <a:srgbClr val="120A1C"/>
          </a:solidFill>
          <a:ln w="12700">
            <a:solidFill>
              <a:srgbClr val="6F3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4000" y="1655999"/>
            <a:ext cx="2052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6F37B4"/>
                </a:solidFill>
                <a:latin typeface="Aptos"/>
              </a:rPr>
              <a:t>CREDIT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4000" y="1980000"/>
            <a:ext cx="2052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5F5F5"/>
                </a:solidFill>
                <a:latin typeface="Aptos"/>
              </a:rPr>
              <a:t>₹949.8M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4000" y="2412000"/>
            <a:ext cx="2052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F5F5F5"/>
                </a:solidFill>
                <a:latin typeface="Aptos"/>
              </a:rPr>
              <a:t>400,209 transactions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04000" y="1512000"/>
            <a:ext cx="2268000" cy="1512000"/>
          </a:xfrm>
          <a:prstGeom prst="rect">
            <a:avLst/>
          </a:prstGeom>
          <a:solidFill>
            <a:srgbClr val="120A1C"/>
          </a:solidFill>
          <a:ln w="12700">
            <a:solidFill>
              <a:srgbClr val="6F3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12000" y="1655999"/>
            <a:ext cx="2052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6F37B4"/>
                </a:solidFill>
                <a:latin typeface="Aptos"/>
              </a:rPr>
              <a:t>WITHDRAWAL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12000" y="1980000"/>
            <a:ext cx="2052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5F5F5"/>
                </a:solidFill>
                <a:latin typeface="Aptos"/>
              </a:rPr>
              <a:t>₹917.9M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12000" y="2412000"/>
            <a:ext cx="2052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F5F5F5"/>
                </a:solidFill>
                <a:latin typeface="Aptos"/>
              </a:rPr>
              <a:t>648,366 transactions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80000" y="3600000"/>
            <a:ext cx="9720000" cy="1332000"/>
          </a:xfrm>
          <a:prstGeom prst="rect">
            <a:avLst/>
          </a:prstGeom>
          <a:solidFill>
            <a:srgbClr val="120A1C"/>
          </a:solidFill>
          <a:ln w="12700">
            <a:solidFill>
              <a:srgbClr val="6F3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60000" y="3744000"/>
            <a:ext cx="9360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6F37B4"/>
                </a:solidFill>
                <a:latin typeface="Aptos"/>
              </a:rPr>
              <a:t>EXPENSE / OPERATION 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0000" y="4104000"/>
            <a:ext cx="936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5F5"/>
                </a:solidFill>
                <a:latin typeface="Aptos"/>
              </a:rPr>
              <a:t>Cash Withdrawal: ₹2.324B     |     Remittance: ₹672.6M     |     Credit-card Withdrawal: ₹17.4M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0000" y="4752000"/>
            <a:ext cx="9360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B9B9C3"/>
                </a:solidFill>
                <a:latin typeface="Aptos"/>
              </a:rPr>
              <a:t>Transaction activity declined strongly over the period; the exact cause requires further investigation.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04000" y="6443999"/>
            <a:ext cx="360000" cy="1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B9B9C3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10728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Aptos"/>
              </a:rPr>
              <a:t>LOANS &amp; CARDS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512000"/>
            <a:ext cx="5040000" cy="3384000"/>
          </a:xfrm>
          <a:prstGeom prst="rect">
            <a:avLst/>
          </a:prstGeom>
          <a:solidFill>
            <a:srgbClr val="120A1C"/>
          </a:solidFill>
          <a:ln w="12700">
            <a:solidFill>
              <a:srgbClr val="6F3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1692000"/>
            <a:ext cx="4320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6F37B4"/>
                </a:solidFill>
                <a:latin typeface="Aptos"/>
              </a:rPr>
              <a:t>LOAN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2088000"/>
            <a:ext cx="4320000" cy="25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Aptos"/>
              </a:rPr>
              <a:t>682 LOANS
Running Contract: 403
Total amount: ₹69.08M
Average amount: ₹171,410
Client in debt: 45
Average amount: ₹249,285
Loan not payed: 31
Average amount: ₹140,721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0000" y="1512000"/>
            <a:ext cx="5040000" cy="3384000"/>
          </a:xfrm>
          <a:prstGeom prst="rect">
            <a:avLst/>
          </a:prstGeom>
          <a:solidFill>
            <a:srgbClr val="120A1C"/>
          </a:solidFill>
          <a:ln w="12700">
            <a:solidFill>
              <a:srgbClr val="6F3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0000" y="1692000"/>
            <a:ext cx="4320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6F37B4"/>
                </a:solidFill>
                <a:latin typeface="Aptos"/>
              </a:rPr>
              <a:t>CARD PORTFOLIO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0000" y="2088000"/>
            <a:ext cx="4320000" cy="24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5F5F5"/>
                </a:solidFill>
                <a:latin typeface="Aptos"/>
              </a:rPr>
              <a:t>892 CARDS
Gold:      659
Silver:    145
Diamond:   88
Gold cards represent the largest card segment, showing stronger adoption compared with other card types.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04000" y="6443999"/>
            <a:ext cx="360000" cy="1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B9B9C3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10728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Aptos"/>
              </a:rPr>
              <a:t>BUSINESS INSIGHTS &amp;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1440000"/>
            <a:ext cx="5220000" cy="3780000"/>
          </a:xfrm>
          <a:prstGeom prst="rect">
            <a:avLst/>
          </a:prstGeom>
          <a:solidFill>
            <a:srgbClr val="120A1C"/>
          </a:solidFill>
          <a:ln w="12700">
            <a:solidFill>
              <a:srgbClr val="6F3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620000"/>
            <a:ext cx="4860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6F37B4"/>
                </a:solidFill>
                <a:latin typeface="Aptos"/>
              </a:rPr>
              <a:t>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2015999"/>
            <a:ext cx="4788000" cy="2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5F5F5"/>
                </a:solidFill>
                <a:latin typeface="Aptos"/>
              </a:defRPr>
            </a:pPr>
            <a:r>
              <a:t>• Transaction activity declined across the analysis period</a:t>
            </a:r>
          </a:p>
          <a:p>
            <a:pPr>
              <a:spcAft>
                <a:spcPts val="800"/>
              </a:spcAft>
              <a:defRPr sz="1300">
                <a:solidFill>
                  <a:srgbClr val="F5F5F5"/>
                </a:solidFill>
                <a:latin typeface="Aptos"/>
              </a:defRPr>
            </a:pPr>
            <a:r>
              <a:t>• Withdrawal activity is higher by transaction count</a:t>
            </a:r>
          </a:p>
          <a:p>
            <a:pPr>
              <a:spcAft>
                <a:spcPts val="800"/>
              </a:spcAft>
              <a:defRPr sz="1300">
                <a:solidFill>
                  <a:srgbClr val="F5F5F5"/>
                </a:solidFill>
                <a:latin typeface="Aptos"/>
              </a:defRPr>
            </a:pPr>
            <a:r>
              <a:t>• Adult and middle-aged customers form major segments</a:t>
            </a:r>
          </a:p>
          <a:p>
            <a:pPr>
              <a:spcAft>
                <a:spcPts val="800"/>
              </a:spcAft>
              <a:defRPr sz="1300">
                <a:solidFill>
                  <a:srgbClr val="F5F5F5"/>
                </a:solidFill>
                <a:latin typeface="Aptos"/>
              </a:defRPr>
            </a:pPr>
            <a:r>
              <a:t>• Gold cards dominate card distribution</a:t>
            </a:r>
          </a:p>
          <a:p>
            <a:pPr>
              <a:spcAft>
                <a:spcPts val="800"/>
              </a:spcAft>
              <a:defRPr sz="1300">
                <a:solidFill>
                  <a:srgbClr val="F5F5F5"/>
                </a:solidFill>
                <a:latin typeface="Aptos"/>
              </a:defRPr>
            </a:pPr>
            <a:r>
              <a:t>• Running contracts form the largest loan status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8000" y="1440000"/>
            <a:ext cx="5220000" cy="3780000"/>
          </a:xfrm>
          <a:prstGeom prst="rect">
            <a:avLst/>
          </a:prstGeom>
          <a:solidFill>
            <a:srgbClr val="120A1C"/>
          </a:solidFill>
          <a:ln w="12700">
            <a:solidFill>
              <a:srgbClr val="6F3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8000" y="1620000"/>
            <a:ext cx="4860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6F37B4"/>
                </a:solidFill>
                <a:latin typeface="Aptos"/>
              </a:rPr>
              <a:t>RECOMMENDATIONS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8000" y="2015999"/>
            <a:ext cx="4788000" cy="2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5F5F5"/>
                </a:solidFill>
                <a:latin typeface="Aptos"/>
              </a:defRPr>
            </a:pPr>
            <a:r>
              <a:t>• Monitor the transaction decline and investigate customer activity</a:t>
            </a:r>
          </a:p>
          <a:p>
            <a:pPr>
              <a:spcAft>
                <a:spcPts val="800"/>
              </a:spcAft>
              <a:defRPr sz="1300">
                <a:solidFill>
                  <a:srgbClr val="F5F5F5"/>
                </a:solidFill>
                <a:latin typeface="Aptos"/>
              </a:defRPr>
            </a:pPr>
            <a:r>
              <a:t>• Promote digital and account services based on customer segments</a:t>
            </a:r>
          </a:p>
          <a:p>
            <a:pPr>
              <a:spcAft>
                <a:spcPts val="800"/>
              </a:spcAft>
              <a:defRPr sz="1300">
                <a:solidFill>
                  <a:srgbClr val="F5F5F5"/>
                </a:solidFill>
                <a:latin typeface="Aptos"/>
              </a:defRPr>
            </a:pPr>
            <a:r>
              <a:t>• Review debt-related loan statuses and repayment behavior</a:t>
            </a:r>
          </a:p>
          <a:p>
            <a:pPr>
              <a:spcAft>
                <a:spcPts val="800"/>
              </a:spcAft>
              <a:defRPr sz="1300">
                <a:solidFill>
                  <a:srgbClr val="F5F5F5"/>
                </a:solidFill>
                <a:latin typeface="Aptos"/>
              </a:defRPr>
            </a:pPr>
            <a:r>
              <a:t>• Use product adoption patterns for cross-selling</a:t>
            </a:r>
          </a:p>
          <a:p>
            <a:pPr>
              <a:spcAft>
                <a:spcPts val="800"/>
              </a:spcAft>
              <a:defRPr sz="1300">
                <a:solidFill>
                  <a:srgbClr val="F5F5F5"/>
                </a:solidFill>
                <a:latin typeface="Aptos"/>
              </a:defRPr>
            </a:pPr>
            <a:r>
              <a:t>• Track transaction behavior regularly through Power BI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04000" y="6443999"/>
            <a:ext cx="360000" cy="1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B9B9C3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10728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Aptos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00000" y="1800000"/>
            <a:ext cx="3240000" cy="2232000"/>
          </a:xfrm>
          <a:prstGeom prst="rect">
            <a:avLst/>
          </a:prstGeom>
          <a:solidFill>
            <a:srgbClr val="120A1C"/>
          </a:solidFill>
          <a:ln w="12700">
            <a:solidFill>
              <a:srgbClr val="6F3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4000" y="2052000"/>
            <a:ext cx="2951999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6F37B4"/>
                </a:solidFill>
                <a:latin typeface="Aptos"/>
              </a:rP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000" y="2556000"/>
            <a:ext cx="2736000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F5F5F5"/>
                </a:solidFill>
                <a:latin typeface="Aptos"/>
              </a:rPr>
              <a:t>Cleaned and structured banking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0" y="1800000"/>
            <a:ext cx="3240000" cy="2232000"/>
          </a:xfrm>
          <a:prstGeom prst="rect">
            <a:avLst/>
          </a:prstGeom>
          <a:solidFill>
            <a:srgbClr val="120A1C"/>
          </a:solidFill>
          <a:ln w="12700">
            <a:solidFill>
              <a:srgbClr val="6F3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64000" y="2052000"/>
            <a:ext cx="2951999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6F37B4"/>
                </a:solidFill>
                <a:latin typeface="Aptos"/>
              </a:rPr>
              <a:t>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556000"/>
            <a:ext cx="2736000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F5F5F5"/>
                </a:solidFill>
                <a:latin typeface="Aptos"/>
              </a:rPr>
              <a:t>SQL and Power BI used to answer business questions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40000" y="1800000"/>
            <a:ext cx="3240000" cy="2232000"/>
          </a:xfrm>
          <a:prstGeom prst="rect">
            <a:avLst/>
          </a:prstGeom>
          <a:solidFill>
            <a:srgbClr val="120A1C"/>
          </a:solidFill>
          <a:ln w="12700">
            <a:solidFill>
              <a:srgbClr val="6F3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83999" y="2052000"/>
            <a:ext cx="2951999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6F37B4"/>
                </a:solidFill>
                <a:latin typeface="Aptos"/>
              </a:rPr>
              <a:t>INSIGHTS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92000" y="2556000"/>
            <a:ext cx="2736000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F5F5F5"/>
                </a:solidFill>
                <a:latin typeface="Aptos"/>
              </a:rPr>
              <a:t>Findings converted into practical business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0000" y="4824000"/>
            <a:ext cx="9288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F5F5"/>
                </a:solidFill>
                <a:latin typeface="Aptos"/>
              </a:rPr>
              <a:t>The project transformed raw banking data into business-ready insights using SQL, Excel and Power BI.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0000" y="5508000"/>
            <a:ext cx="288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6F37B4"/>
                </a:solidFill>
                <a:latin typeface="Aptos"/>
              </a:rPr>
              <a:t>THANK YOU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04000" y="6443999"/>
            <a:ext cx="360000" cy="1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B9B9C3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